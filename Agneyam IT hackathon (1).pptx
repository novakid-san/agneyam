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7" r:id="rId2"/>
    <p:sldId id="256" r:id="rId3"/>
    <p:sldId id="266" r:id="rId4"/>
    <p:sldId id="287" r:id="rId5"/>
    <p:sldId id="285" r:id="rId6"/>
    <p:sldId id="288" r:id="rId7"/>
    <p:sldId id="28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385156-DC90-4FF9-8540-C75E5E2836B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C235A6-5650-4994-84C0-89434DE3B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918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71A61-1181-D5E4-D7FD-188A2160A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31F269-DB51-5DE8-D3E2-59FF7B456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795A9-8CB3-FC2D-B88B-FC372AC06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AE2F-2566-499D-BEDB-BD3EA0B5B4C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14848-B2BE-D868-3A01-224CB2A38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F9800-83BE-4E53-A760-F2D70E0E5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52511-0F35-47D8-A94D-DBE08AA35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215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992AB-4356-F0FA-6D42-51A98F1C6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C2F0A-789C-1AD0-E0D3-A20EDB7CC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93A50-AB70-561F-2A7F-9D2992F8B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AE2F-2566-499D-BEDB-BD3EA0B5B4C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4E1B9-85C7-5597-C249-9CCF38594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32854-3E7A-229A-838B-332091FE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52511-0F35-47D8-A94D-DBE08AA35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122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D20B6-CD67-7D56-D537-13464195A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038A6-434A-2676-2B9C-0A85DADC4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980EC-5A99-15FF-B8EE-391E0945C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AE2F-2566-499D-BEDB-BD3EA0B5B4C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8DA60-4412-5950-509B-0576541EB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FC1FD-AD10-7BF2-EF7A-A6B74CADA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52511-0F35-47D8-A94D-DBE08AA35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750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214C4-2F9B-0C21-1D2E-CF5EE8B8C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4C310-7ADE-F7C2-5967-B07B83632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4E20C-64EB-846C-DEEE-C332F6331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4A883-2D30-DB31-8BE9-27F187D55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AE2F-2566-499D-BEDB-BD3EA0B5B4C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472DC-73F2-83D8-EFC8-1DEA2C6F8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A0A5D-9195-F031-720D-6BBF7CF9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52511-0F35-47D8-A94D-DBE08AA35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445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A5D9A-4929-52EC-F7E6-46750412B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04EA4-66E4-A963-D6EE-93AA64BA1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9C037-0E3F-A043-243E-7B3B8EB07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A2A20C-FB78-4EDD-E81F-D1983647FC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6548DC-7DAB-26E6-3B24-841C2B7FFC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0B9FA1-6025-95C0-0E3A-C0EAA0D92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AE2F-2566-499D-BEDB-BD3EA0B5B4C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1664FB-132A-6C0D-5D38-7DB5F8F17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35A052-4809-0CCC-1EA2-4488BCA9F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52511-0F35-47D8-A94D-DBE08AA35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052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19535-5AA8-00DF-F12B-4797CE34D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A6B33-9B74-A0DC-27D9-3104046CA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AE2F-2566-499D-BEDB-BD3EA0B5B4C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E4A45-2E03-A2B4-AE93-757BBC1D1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9C0A7-7D58-0E5A-16CC-11422CAB4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52511-0F35-47D8-A94D-DBE08AA35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018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1F3EA7-EB21-0B4F-A98C-6D671641F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AE2F-2566-499D-BEDB-BD3EA0B5B4C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A40F9E-C594-5BA2-55EB-38A85091F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9C1BB-BA2D-BAEA-1EEB-0AEF51EBE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52511-0F35-47D8-A94D-DBE08AA35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006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C81B0-3E4D-9C02-14F4-0BC7495B4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BDAB7-25F8-4EC8-114F-BE01E1CD7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C02CD9-4293-BDD7-2C33-2915BA2FD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C2BA3-5D9E-0C05-557D-D1995AA64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AE2F-2566-499D-BEDB-BD3EA0B5B4C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30B09-8AE8-C6CC-7F17-D0F80057C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FAB2E-6212-8652-2D8F-E824C143D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52511-0F35-47D8-A94D-DBE08AA35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803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144CC-5604-DC9D-36D3-55D05FC27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78A565-A0D3-E40F-1AD4-ED9586799C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F1DFF-0355-1D42-A84C-8A9ACF72E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8C8B2-68C4-F4FE-4640-A1901AFEE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AE2F-2566-499D-BEDB-BD3EA0B5B4C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A1E3B-E1A1-7E38-33AF-E3D8D455C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8A200-F5D2-294A-F8DB-317EC8ADC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52511-0F35-47D8-A94D-DBE08AA35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049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CB30E-4A6A-92DF-8804-D02BF9D07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E1C616-A3A7-8C80-8822-31FEBBD4C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2C5CB-23FE-DC68-2F81-260C844BB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AE2F-2566-499D-BEDB-BD3EA0B5B4C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2E02E-D4E9-2C58-301D-D25B95A04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C1489-2738-497E-2403-1DADD2395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52511-0F35-47D8-A94D-DBE08AA35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88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9C8B4-B839-12F2-2B68-36597023CA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BE6895-F4CC-C7A8-5A63-612FE56F0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D1720-ECDF-BB39-718B-714DED12D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AE2F-2566-499D-BEDB-BD3EA0B5B4C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14FBD-BC4E-520B-8AF6-491CD1BE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A4A26-00CC-2BCA-CF60-C118ACD36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52511-0F35-47D8-A94D-DBE08AA35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451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AF40B7-3931-80A2-A05D-D55E96622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249E1-F9C9-F705-077B-BF1EF0C07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00CF7-2FCA-B1F3-1B2E-4DF3DFC9D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FAE2F-2566-499D-BEDB-BD3EA0B5B4C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9246E-45BB-A1D4-4750-93574B067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271A1-E193-4488-C762-36CAFA13A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52511-0F35-47D8-A94D-DBE08AA35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871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5" Type="http://schemas.openxmlformats.org/officeDocument/2006/relationships/image" Target="../media/image18.jpeg"/><Relationship Id="rId10" Type="http://schemas.openxmlformats.org/officeDocument/2006/relationships/image" Target="../media/image13.jpeg"/><Relationship Id="rId19" Type="http://schemas.openxmlformats.org/officeDocument/2006/relationships/image" Target="../media/image22.png"/><Relationship Id="rId4" Type="http://schemas.openxmlformats.org/officeDocument/2006/relationships/image" Target="../media/image7.jpeg"/><Relationship Id="rId9" Type="http://schemas.openxmlformats.org/officeDocument/2006/relationships/image" Target="../media/image12.jpeg"/><Relationship Id="rId1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19D44CE-5150-0767-0DC0-02BBFFE7B5AB}"/>
              </a:ext>
            </a:extLst>
          </p:cNvPr>
          <p:cNvSpPr txBox="1"/>
          <p:nvPr/>
        </p:nvSpPr>
        <p:spPr>
          <a:xfrm>
            <a:off x="333464" y="2337060"/>
            <a:ext cx="1152507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Startup: Agneyam Aerospace Labs, Chennai.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Udyam Reg No: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Udyam-TN-08-011-0118821.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Founder &amp; CEO: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Prithivirajan (Hardware Head)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Co-Founder &amp; Co-CEO: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Naveenkumar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 &amp; Partners: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Praveen VP (Software), Praveen Abraham. P (CAD) &amp; Sachin J (Hardware assist)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Incubation cell: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Incubated at Sathyabama Startup Cell.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ISRO (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InSpace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user name: Agneyam@2006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Raised so far: 1.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equipment support for R&amp;D from Sathyabama Innovation council and startup cell.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B4E340-1734-9CFF-AFE6-E167EC40CAD8}"/>
              </a:ext>
            </a:extLst>
          </p:cNvPr>
          <p:cNvSpPr txBox="1"/>
          <p:nvPr/>
        </p:nvSpPr>
        <p:spPr>
          <a:xfrm>
            <a:off x="-93824" y="1012941"/>
            <a:ext cx="1237964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Indigenous</a:t>
            </a:r>
            <a:r>
              <a:rPr lang="en-US" sz="2500" b="1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n-US" sz="2500" b="1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500" b="1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Fabrication</a:t>
            </a:r>
            <a:r>
              <a:rPr lang="en-US" sz="2500" b="1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5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6U</a:t>
            </a:r>
            <a:r>
              <a:rPr lang="en-US" sz="2500" b="1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CubeSat</a:t>
            </a:r>
            <a:r>
              <a:rPr lang="en-US" sz="2500" b="1" spc="-6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2500" b="1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</a:t>
            </a:r>
            <a:r>
              <a:rPr lang="en-US" sz="2500" b="1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propulsion</a:t>
            </a:r>
            <a:r>
              <a:rPr lang="en-US" sz="2500" b="1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and</a:t>
            </a:r>
            <a:r>
              <a:rPr lang="en-US" sz="2500" b="1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Broadband</a:t>
            </a:r>
            <a:r>
              <a:rPr lang="en-US" sz="2500"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spectrometer</a:t>
            </a:r>
            <a:r>
              <a:rPr lang="en-US" sz="2500" b="1" spc="-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</a:t>
            </a:r>
            <a:r>
              <a:rPr lang="en-US" sz="2500" b="1" spc="-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Soil Carbon mapping and climate modelling system </a:t>
            </a:r>
            <a:endParaRPr lang="en-IN" sz="2500" b="1" dirty="0"/>
          </a:p>
        </p:txBody>
      </p:sp>
      <p:sp>
        <p:nvSpPr>
          <p:cNvPr id="11" name="object 15">
            <a:extLst>
              <a:ext uri="{FF2B5EF4-FFF2-40B4-BE49-F238E27FC236}">
                <a16:creationId xmlns:a16="http://schemas.microsoft.com/office/drawing/2014/main" id="{E343D2D4-B506-9E43-187C-9AC4927A40C1}"/>
              </a:ext>
            </a:extLst>
          </p:cNvPr>
          <p:cNvSpPr txBox="1"/>
          <p:nvPr/>
        </p:nvSpPr>
        <p:spPr>
          <a:xfrm>
            <a:off x="6261313" y="41778"/>
            <a:ext cx="2813860" cy="656447"/>
          </a:xfrm>
          <a:prstGeom prst="rect">
            <a:avLst/>
          </a:prstGeom>
          <a:solidFill>
            <a:srgbClr val="C6233C"/>
          </a:solidFill>
        </p:spPr>
        <p:txBody>
          <a:bodyPr vert="horz" wrap="square" lIns="0" tIns="0" rIns="0" bIns="0" rtlCol="0">
            <a:spAutoFit/>
          </a:bodyPr>
          <a:lstStyle/>
          <a:p>
            <a:pPr marL="767869">
              <a:lnSpc>
                <a:spcPts val="3694"/>
              </a:lnSpc>
            </a:pPr>
            <a:endParaRPr sz="31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1F5627-B205-41E8-9745-A6D18100C155}"/>
              </a:ext>
            </a:extLst>
          </p:cNvPr>
          <p:cNvSpPr txBox="1"/>
          <p:nvPr/>
        </p:nvSpPr>
        <p:spPr>
          <a:xfrm>
            <a:off x="2660249" y="-9661"/>
            <a:ext cx="655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 Agneyam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EE6B02-1CA4-145B-9AA4-FA2C6665F787}"/>
              </a:ext>
            </a:extLst>
          </p:cNvPr>
          <p:cNvSpPr txBox="1"/>
          <p:nvPr/>
        </p:nvSpPr>
        <p:spPr>
          <a:xfrm>
            <a:off x="333464" y="1907454"/>
            <a:ext cx="8564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Soil Carbon Sequestration Optimization System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E89EC45-CDD5-9DF1-4268-9DC7A9247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22"/>
            <a:ext cx="2911579" cy="72519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C8CC8F6-DAFF-16CE-2A97-A556032DC739}"/>
              </a:ext>
            </a:extLst>
          </p:cNvPr>
          <p:cNvSpPr txBox="1"/>
          <p:nvPr/>
        </p:nvSpPr>
        <p:spPr>
          <a:xfrm>
            <a:off x="333464" y="5060837"/>
            <a:ext cx="116266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</a:t>
            </a:r>
            <a:r>
              <a:rPr lang="en-US"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</a:t>
            </a:r>
            <a:r>
              <a:rPr lang="en-US" sz="1600" spc="-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</a:t>
            </a:r>
            <a:r>
              <a:rPr lang="en-US" sz="1600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Indigenous</a:t>
            </a:r>
            <a:r>
              <a:rPr lang="en-US" sz="16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n-US" sz="1600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spc="-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fabrication</a:t>
            </a:r>
            <a:r>
              <a:rPr lang="en-US" sz="1600" spc="-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600" spc="-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INDIA,</a:t>
            </a:r>
            <a:r>
              <a:rPr lang="en-US" sz="16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</a:t>
            </a:r>
            <a:r>
              <a:rPr lang="en-US" sz="1600" spc="-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sz="1600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interplanetary</a:t>
            </a:r>
            <a:r>
              <a:rPr lang="en-US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mission</a:t>
            </a:r>
            <a:r>
              <a:rPr lang="en-US" sz="1600" spc="-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spc="-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</a:t>
            </a:r>
            <a:r>
              <a:rPr lang="en-US" sz="1600" spc="-5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</a:t>
            </a:r>
            <a:r>
              <a:rPr lang="en-US"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1600" spc="-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spectrometer payload</a:t>
            </a:r>
            <a:r>
              <a:rPr lang="en-US" sz="1600" spc="-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</a:t>
            </a:r>
            <a:r>
              <a:rPr lang="en-US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US" sz="1600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</a:t>
            </a:r>
            <a:r>
              <a:rPr lang="en-US" sz="1600" spc="-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600" spc="-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Spectrum</a:t>
            </a:r>
            <a:r>
              <a:rPr lang="en-US" sz="1600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1600" spc="-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</a:t>
            </a:r>
            <a:r>
              <a:rPr lang="en-US" sz="1600" spc="-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band. So, the task is to develop a CubeSat with micro-propulsion and broadband spectrometer payload for remote sensing, agriculture monitoring, military application, climate studies.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2">
            <a:extLst>
              <a:ext uri="{FF2B5EF4-FFF2-40B4-BE49-F238E27FC236}">
                <a16:creationId xmlns:a16="http://schemas.microsoft.com/office/drawing/2014/main" id="{632269CC-00C7-7AE7-919D-17DE37413062}"/>
              </a:ext>
            </a:extLst>
          </p:cNvPr>
          <p:cNvGrpSpPr/>
          <p:nvPr/>
        </p:nvGrpSpPr>
        <p:grpSpPr>
          <a:xfrm>
            <a:off x="-292224" y="6247607"/>
            <a:ext cx="12941639" cy="616743"/>
            <a:chOff x="0" y="0"/>
            <a:chExt cx="3994333" cy="190353"/>
          </a:xfrm>
        </p:grpSpPr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5DA1C3AF-CFE7-35D3-7355-353168B8720A}"/>
                </a:ext>
              </a:extLst>
            </p:cNvPr>
            <p:cNvSpPr/>
            <p:nvPr/>
          </p:nvSpPr>
          <p:spPr>
            <a:xfrm>
              <a:off x="0" y="0"/>
              <a:ext cx="3994333" cy="190353"/>
            </a:xfrm>
            <a:custGeom>
              <a:avLst/>
              <a:gdLst/>
              <a:ahLst/>
              <a:cxnLst/>
              <a:rect l="l" t="t" r="r" b="b"/>
              <a:pathLst>
                <a:path w="3994333" h="190353">
                  <a:moveTo>
                    <a:pt x="7789" y="0"/>
                  </a:moveTo>
                  <a:lnTo>
                    <a:pt x="3986544" y="0"/>
                  </a:lnTo>
                  <a:cubicBezTo>
                    <a:pt x="3990846" y="0"/>
                    <a:pt x="3994333" y="3487"/>
                    <a:pt x="3994333" y="7789"/>
                  </a:cubicBezTo>
                  <a:lnTo>
                    <a:pt x="3994333" y="182564"/>
                  </a:lnTo>
                  <a:cubicBezTo>
                    <a:pt x="3994333" y="184629"/>
                    <a:pt x="3993513" y="186611"/>
                    <a:pt x="3992052" y="188072"/>
                  </a:cubicBezTo>
                  <a:cubicBezTo>
                    <a:pt x="3990591" y="189532"/>
                    <a:pt x="3988610" y="190353"/>
                    <a:pt x="3986544" y="190353"/>
                  </a:cubicBezTo>
                  <a:lnTo>
                    <a:pt x="7789" y="190353"/>
                  </a:lnTo>
                  <a:cubicBezTo>
                    <a:pt x="5723" y="190353"/>
                    <a:pt x="3742" y="189532"/>
                    <a:pt x="2281" y="188072"/>
                  </a:cubicBezTo>
                  <a:cubicBezTo>
                    <a:pt x="821" y="186611"/>
                    <a:pt x="0" y="184629"/>
                    <a:pt x="0" y="182564"/>
                  </a:cubicBezTo>
                  <a:lnTo>
                    <a:pt x="0" y="7789"/>
                  </a:lnTo>
                  <a:cubicBezTo>
                    <a:pt x="0" y="5723"/>
                    <a:pt x="821" y="3742"/>
                    <a:pt x="2281" y="2281"/>
                  </a:cubicBezTo>
                  <a:cubicBezTo>
                    <a:pt x="3742" y="821"/>
                    <a:pt x="5723" y="0"/>
                    <a:pt x="7789" y="0"/>
                  </a:cubicBezTo>
                  <a:close/>
                </a:path>
              </a:pathLst>
            </a:custGeom>
            <a:solidFill>
              <a:srgbClr val="00A6C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4">
              <a:extLst>
                <a:ext uri="{FF2B5EF4-FFF2-40B4-BE49-F238E27FC236}">
                  <a16:creationId xmlns:a16="http://schemas.microsoft.com/office/drawing/2014/main" id="{72816021-D5DC-EEE5-687A-D4F196D3429D}"/>
                </a:ext>
              </a:extLst>
            </p:cNvPr>
            <p:cNvSpPr txBox="1"/>
            <p:nvPr/>
          </p:nvSpPr>
          <p:spPr>
            <a:xfrm>
              <a:off x="0" y="-38100"/>
              <a:ext cx="3994333" cy="22845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40"/>
                </a:lnSpc>
              </a:pPr>
              <a:endParaRPr/>
            </a:p>
          </p:txBody>
        </p:sp>
      </p:grpSp>
      <p:sp>
        <p:nvSpPr>
          <p:cNvPr id="2" name="object 15">
            <a:extLst>
              <a:ext uri="{FF2B5EF4-FFF2-40B4-BE49-F238E27FC236}">
                <a16:creationId xmlns:a16="http://schemas.microsoft.com/office/drawing/2014/main" id="{7F301180-29D6-E87C-4889-663DD4A7DE1F}"/>
              </a:ext>
            </a:extLst>
          </p:cNvPr>
          <p:cNvSpPr txBox="1"/>
          <p:nvPr/>
        </p:nvSpPr>
        <p:spPr>
          <a:xfrm>
            <a:off x="3995532" y="32602"/>
            <a:ext cx="2183063" cy="502766"/>
          </a:xfrm>
          <a:prstGeom prst="rect">
            <a:avLst/>
          </a:prstGeom>
          <a:solidFill>
            <a:srgbClr val="C6233C"/>
          </a:solidFill>
        </p:spPr>
        <p:txBody>
          <a:bodyPr vert="horz" wrap="square" lIns="0" tIns="0" rIns="0" bIns="0" rtlCol="0">
            <a:spAutoFit/>
          </a:bodyPr>
          <a:lstStyle/>
          <a:p>
            <a:pPr marL="767869">
              <a:lnSpc>
                <a:spcPts val="3694"/>
              </a:lnSpc>
            </a:pPr>
            <a:endParaRPr sz="31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4BA21B-A55C-3A7E-46CF-87464473985D}"/>
              </a:ext>
            </a:extLst>
          </p:cNvPr>
          <p:cNvSpPr txBox="1"/>
          <p:nvPr/>
        </p:nvSpPr>
        <p:spPr>
          <a:xfrm>
            <a:off x="4300621" y="32602"/>
            <a:ext cx="42164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STATEMENT.</a:t>
            </a:r>
            <a:endParaRPr lang="en-IN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A3CD21-B3A6-6BF8-3DB7-6D85B71A0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867" y="744167"/>
            <a:ext cx="4937758" cy="24688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5980E8-680F-4687-A929-0323688C33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867" y="3444835"/>
            <a:ext cx="4937758" cy="24688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7E27819-F410-2476-900E-536001443157}"/>
              </a:ext>
            </a:extLst>
          </p:cNvPr>
          <p:cNvSpPr txBox="1"/>
          <p:nvPr/>
        </p:nvSpPr>
        <p:spPr>
          <a:xfrm>
            <a:off x="26349" y="489389"/>
            <a:ext cx="6825864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Explanation of the Problem</a:t>
            </a:r>
          </a:p>
          <a:p>
            <a:pPr algn="just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Atmospheric CO₂ levels have significantly increased due to industrialization and unsustainable land practices, accelerating global warming. Although soil is a major carbon sink, there is no scalable system to continuously monitor and optimize soil carbon sequestration.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10EE05-9483-4B13-0BBD-FCA8FE968892}"/>
              </a:ext>
            </a:extLst>
          </p:cNvPr>
          <p:cNvSpPr txBox="1"/>
          <p:nvPr/>
        </p:nvSpPr>
        <p:spPr>
          <a:xfrm>
            <a:off x="26347" y="1929382"/>
            <a:ext cx="6825865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is Affected?</a:t>
            </a:r>
          </a:p>
          <a:p>
            <a:pPr algn="just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Farmers, governments, environmental agencies, and carbon credit markets are directly impacted due to the lack of reliable carbon data. This also affects global climate mitigation efforts and sustainable agriculture planning.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B2A2F5-E8B6-29E8-6A26-86DD30CDE583}"/>
              </a:ext>
            </a:extLst>
          </p:cNvPr>
          <p:cNvSpPr txBox="1"/>
          <p:nvPr/>
        </p:nvSpPr>
        <p:spPr>
          <a:xfrm>
            <a:off x="26348" y="3369376"/>
            <a:ext cx="6825864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this Problem Important?</a:t>
            </a:r>
          </a:p>
          <a:p>
            <a:pPr algn="just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stores more carbon than the atmosphere and vegetation combined, making it crucial for climate regulation. Without proper monitoring and management, degraded soils release stored carbon, worsening climate change.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5AF17D-D5CE-D1B3-724E-A0D4A626AA19}"/>
              </a:ext>
            </a:extLst>
          </p:cNvPr>
          <p:cNvSpPr txBox="1"/>
          <p:nvPr/>
        </p:nvSpPr>
        <p:spPr>
          <a:xfrm>
            <a:off x="26348" y="4746770"/>
            <a:ext cx="6825864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Limitations / Gaps in Existing Solutions</a:t>
            </a:r>
          </a:p>
          <a:p>
            <a:pPr algn="just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rely on manual soil sampling, which is expensive, slow, and geographically limited. There is no AI-powered, satellite-integrated system that predicts soil carbon potential and provides sustainability recommendations at scale.</a:t>
            </a:r>
          </a:p>
        </p:txBody>
      </p:sp>
    </p:spTree>
    <p:extLst>
      <p:ext uri="{BB962C8B-B14F-4D97-AF65-F5344CB8AC3E}">
        <p14:creationId xmlns:p14="http://schemas.microsoft.com/office/powerpoint/2010/main" val="4183041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63" y="6350000"/>
            <a:ext cx="12201524" cy="512763"/>
            <a:chOff x="0" y="0"/>
            <a:chExt cx="24403048" cy="1025526"/>
          </a:xfrm>
        </p:grpSpPr>
        <p:sp>
          <p:nvSpPr>
            <p:cNvPr id="3" name="Freeform 3"/>
            <p:cNvSpPr/>
            <p:nvPr/>
          </p:nvSpPr>
          <p:spPr>
            <a:xfrm>
              <a:off x="9525" y="9525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03050" cy="1025525"/>
            </a:xfrm>
            <a:custGeom>
              <a:avLst/>
              <a:gdLst/>
              <a:ahLst/>
              <a:cxnLst/>
              <a:rect l="l" t="t" r="r" b="b"/>
              <a:pathLst>
                <a:path w="24403050" h="1025525">
                  <a:moveTo>
                    <a:pt x="9525" y="0"/>
                  </a:moveTo>
                  <a:lnTo>
                    <a:pt x="24393525" y="0"/>
                  </a:lnTo>
                  <a:cubicBezTo>
                    <a:pt x="24398732" y="0"/>
                    <a:pt x="24403050" y="4318"/>
                    <a:pt x="24403050" y="9525"/>
                  </a:cubicBezTo>
                  <a:lnTo>
                    <a:pt x="24403050" y="1016000"/>
                  </a:lnTo>
                  <a:cubicBezTo>
                    <a:pt x="24403050" y="1021207"/>
                    <a:pt x="24398732" y="1025525"/>
                    <a:pt x="24393525" y="1025525"/>
                  </a:cubicBezTo>
                  <a:lnTo>
                    <a:pt x="9525" y="1025525"/>
                  </a:lnTo>
                  <a:cubicBezTo>
                    <a:pt x="4318" y="1025525"/>
                    <a:pt x="0" y="1021207"/>
                    <a:pt x="0" y="101600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16000"/>
                  </a:lnTo>
                  <a:lnTo>
                    <a:pt x="9525" y="1016000"/>
                  </a:lnTo>
                  <a:lnTo>
                    <a:pt x="9525" y="1006475"/>
                  </a:lnTo>
                  <a:lnTo>
                    <a:pt x="24393525" y="1006475"/>
                  </a:lnTo>
                  <a:lnTo>
                    <a:pt x="24393525" y="1016000"/>
                  </a:lnTo>
                  <a:lnTo>
                    <a:pt x="24384000" y="1016000"/>
                  </a:lnTo>
                  <a:lnTo>
                    <a:pt x="24384000" y="9525"/>
                  </a:lnTo>
                  <a:lnTo>
                    <a:pt x="24393525" y="9525"/>
                  </a:lnTo>
                  <a:lnTo>
                    <a:pt x="243935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737600" y="6356354"/>
            <a:ext cx="2844800" cy="365125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 b="1">
                  <a:solidFill>
                    <a:srgbClr val="FFFFFF"/>
                  </a:solidFill>
                  <a:latin typeface="Times New Roman" panose="02020603050405020304" pitchFamily="18" charset="0"/>
                  <a:ea typeface="Trade Gothic Bold"/>
                  <a:cs typeface="Times New Roman" panose="02020603050405020304" pitchFamily="18" charset="0"/>
                  <a:sym typeface="Trade Gothic Bold"/>
                </a:rPr>
                <a:t>3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92224" y="6247607"/>
            <a:ext cx="12941639" cy="616743"/>
            <a:chOff x="0" y="0"/>
            <a:chExt cx="3994333" cy="1903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994333" cy="190353"/>
            </a:xfrm>
            <a:custGeom>
              <a:avLst/>
              <a:gdLst/>
              <a:ahLst/>
              <a:cxnLst/>
              <a:rect l="l" t="t" r="r" b="b"/>
              <a:pathLst>
                <a:path w="3994333" h="190353">
                  <a:moveTo>
                    <a:pt x="7789" y="0"/>
                  </a:moveTo>
                  <a:lnTo>
                    <a:pt x="3986544" y="0"/>
                  </a:lnTo>
                  <a:cubicBezTo>
                    <a:pt x="3990846" y="0"/>
                    <a:pt x="3994333" y="3487"/>
                    <a:pt x="3994333" y="7789"/>
                  </a:cubicBezTo>
                  <a:lnTo>
                    <a:pt x="3994333" y="182564"/>
                  </a:lnTo>
                  <a:cubicBezTo>
                    <a:pt x="3994333" y="184629"/>
                    <a:pt x="3993513" y="186611"/>
                    <a:pt x="3992052" y="188072"/>
                  </a:cubicBezTo>
                  <a:cubicBezTo>
                    <a:pt x="3990591" y="189532"/>
                    <a:pt x="3988610" y="190353"/>
                    <a:pt x="3986544" y="190353"/>
                  </a:cubicBezTo>
                  <a:lnTo>
                    <a:pt x="7789" y="190353"/>
                  </a:lnTo>
                  <a:cubicBezTo>
                    <a:pt x="5723" y="190353"/>
                    <a:pt x="3742" y="189532"/>
                    <a:pt x="2281" y="188072"/>
                  </a:cubicBezTo>
                  <a:cubicBezTo>
                    <a:pt x="821" y="186611"/>
                    <a:pt x="0" y="184629"/>
                    <a:pt x="0" y="182564"/>
                  </a:cubicBezTo>
                  <a:lnTo>
                    <a:pt x="0" y="7789"/>
                  </a:lnTo>
                  <a:cubicBezTo>
                    <a:pt x="0" y="5723"/>
                    <a:pt x="821" y="3742"/>
                    <a:pt x="2281" y="2281"/>
                  </a:cubicBezTo>
                  <a:cubicBezTo>
                    <a:pt x="3742" y="821"/>
                    <a:pt x="5723" y="0"/>
                    <a:pt x="7789" y="0"/>
                  </a:cubicBezTo>
                  <a:close/>
                </a:path>
              </a:pathLst>
            </a:custGeom>
            <a:solidFill>
              <a:srgbClr val="00A6C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994333" cy="22845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40"/>
                </a:lnSpc>
              </a:pPr>
              <a:endParaRPr/>
            </a:p>
          </p:txBody>
        </p:sp>
      </p:grpSp>
      <p:sp>
        <p:nvSpPr>
          <p:cNvPr id="29" name="object 5">
            <a:extLst>
              <a:ext uri="{FF2B5EF4-FFF2-40B4-BE49-F238E27FC236}">
                <a16:creationId xmlns:a16="http://schemas.microsoft.com/office/drawing/2014/main" id="{F0F3B5EA-05E7-3ECD-F90D-739D9CA60CFD}"/>
              </a:ext>
            </a:extLst>
          </p:cNvPr>
          <p:cNvSpPr txBox="1"/>
          <p:nvPr/>
        </p:nvSpPr>
        <p:spPr>
          <a:xfrm>
            <a:off x="47383" y="1388760"/>
            <a:ext cx="5120245" cy="2978295"/>
          </a:xfrm>
          <a:prstGeom prst="rect">
            <a:avLst/>
          </a:prstGeom>
        </p:spPr>
        <p:txBody>
          <a:bodyPr vert="horz" wrap="square" lIns="0" tIns="10711" rIns="0" bIns="0" rtlCol="0">
            <a:spAutoFit/>
          </a:bodyPr>
          <a:lstStyle/>
          <a:p>
            <a:pPr marL="308952" marR="491617" indent="-253138" algn="just">
              <a:buFont typeface="Arial MT"/>
              <a:buChar char="•"/>
              <a:tabLst>
                <a:tab pos="310644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Impact Visualization Dashboard with geo-referenced carbon maps.</a:t>
            </a:r>
          </a:p>
          <a:p>
            <a:pPr marL="308952" marR="491617" indent="-253138" algn="just">
              <a:buFont typeface="Arial MT"/>
              <a:buChar char="•"/>
              <a:tabLst>
                <a:tab pos="310644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Carbon Gain Analysis across districts / states.</a:t>
            </a:r>
          </a:p>
          <a:p>
            <a:pPr marL="309516" indent="-253138" algn="just">
              <a:spcBef>
                <a:spcPts val="85"/>
              </a:spcBef>
              <a:buFont typeface="Arial MT"/>
              <a:buChar char="•"/>
              <a:tabLst>
                <a:tab pos="309516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Patented</a:t>
            </a:r>
            <a:r>
              <a:rPr lang="en-US"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</a:t>
            </a:r>
            <a:r>
              <a:rPr lang="en-US" sz="1600" spc="-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Broadband</a:t>
            </a:r>
            <a:r>
              <a:rPr lang="en-US" sz="1600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160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spectrometer</a:t>
            </a:r>
            <a:r>
              <a:rPr lang="en-US" sz="1600" spc="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(Near-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0644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Far-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IR)</a:t>
            </a:r>
            <a:r>
              <a:rPr lang="en-US" sz="1600" spc="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(900nm</a:t>
            </a:r>
            <a:r>
              <a:rPr lang="en-US" sz="1600" spc="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5000nm). </a:t>
            </a:r>
          </a:p>
          <a:p>
            <a:pPr marL="310644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Palm</a:t>
            </a:r>
            <a:r>
              <a:rPr lang="en-IN"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Sized</a:t>
            </a:r>
            <a:r>
              <a:rPr lang="en-IN" sz="1600" spc="-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Pulsing Micro</a:t>
            </a:r>
            <a:r>
              <a:rPr lang="en-IN" sz="1600" spc="-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propulsion</a:t>
            </a:r>
            <a:r>
              <a:rPr lang="en-IN" sz="1600" spc="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IN"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Hypergolic</a:t>
            </a:r>
            <a:r>
              <a:rPr lang="en-IN" sz="1600" spc="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</a:t>
            </a:r>
            <a:r>
              <a:rPr lang="en-IN"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(Using</a:t>
            </a:r>
            <a:r>
              <a:rPr lang="en-IN" sz="1600" spc="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sulphur kerosene</a:t>
            </a:r>
            <a:r>
              <a:rPr lang="en-IN"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sz="1600" spc="-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H2O2)</a:t>
            </a:r>
            <a:r>
              <a:rPr lang="en-IN" sz="1600" spc="-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IN" sz="1600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orbit slingshot.</a:t>
            </a:r>
          </a:p>
          <a:p>
            <a:pPr marL="310644"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8952" marR="491617" indent="-253138" algn="just">
              <a:buFont typeface="Arial MT"/>
              <a:buChar char="•"/>
              <a:tabLst>
                <a:tab pos="310644" algn="l"/>
              </a:tabLst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0644" marR="289220" indent="-254829">
              <a:spcBef>
                <a:spcPts val="5"/>
              </a:spcBef>
              <a:buFont typeface="Arial MT"/>
              <a:buChar char="•"/>
              <a:tabLst>
                <a:tab pos="310644" algn="l"/>
              </a:tabLst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object 7">
            <a:extLst>
              <a:ext uri="{FF2B5EF4-FFF2-40B4-BE49-F238E27FC236}">
                <a16:creationId xmlns:a16="http://schemas.microsoft.com/office/drawing/2014/main" id="{612A2097-99F9-FE28-143F-75C406CF1DFA}"/>
              </a:ext>
            </a:extLst>
          </p:cNvPr>
          <p:cNvSpPr txBox="1"/>
          <p:nvPr/>
        </p:nvSpPr>
        <p:spPr>
          <a:xfrm>
            <a:off x="47383" y="3610965"/>
            <a:ext cx="3974186" cy="256467"/>
          </a:xfrm>
          <a:prstGeom prst="rect">
            <a:avLst/>
          </a:prstGeom>
        </p:spPr>
        <p:txBody>
          <a:bodyPr vert="horz" wrap="square" lIns="0" tIns="10147" rIns="0" bIns="0" rtlCol="0">
            <a:spAutoFit/>
          </a:bodyPr>
          <a:lstStyle/>
          <a:p>
            <a:pPr marL="11276">
              <a:spcBef>
                <a:spcPts val="80"/>
              </a:spcBef>
            </a:pPr>
            <a:r>
              <a:rPr sz="1600" b="1" dirty="0">
                <a:solidFill>
                  <a:srgbClr val="7792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</a:t>
            </a:r>
            <a:r>
              <a:rPr sz="1600" b="1" spc="-35" dirty="0">
                <a:solidFill>
                  <a:srgbClr val="7792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9" dirty="0">
                <a:solidFill>
                  <a:srgbClr val="7792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addresses</a:t>
            </a:r>
            <a:r>
              <a:rPr sz="1600" b="1" spc="-13" dirty="0">
                <a:solidFill>
                  <a:srgbClr val="7792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rgbClr val="7792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b="1" spc="18" dirty="0">
                <a:solidFill>
                  <a:srgbClr val="7792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9" dirty="0">
                <a:solidFill>
                  <a:srgbClr val="7792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object 8">
            <a:extLst>
              <a:ext uri="{FF2B5EF4-FFF2-40B4-BE49-F238E27FC236}">
                <a16:creationId xmlns:a16="http://schemas.microsoft.com/office/drawing/2014/main" id="{B0EB8AAD-F88E-D36D-CFE6-B2B0091DA4D9}"/>
              </a:ext>
            </a:extLst>
          </p:cNvPr>
          <p:cNvSpPr txBox="1"/>
          <p:nvPr/>
        </p:nvSpPr>
        <p:spPr>
          <a:xfrm>
            <a:off x="108077" y="3887810"/>
            <a:ext cx="5248719" cy="1733795"/>
          </a:xfrm>
          <a:prstGeom prst="rect">
            <a:avLst/>
          </a:prstGeom>
        </p:spPr>
        <p:txBody>
          <a:bodyPr vert="horz" wrap="square" lIns="0" tIns="10147" rIns="0" bIns="0" rtlCol="0">
            <a:spAutoFit/>
          </a:bodyPr>
          <a:lstStyle/>
          <a:p>
            <a:pPr marL="265541" marR="4510" indent="-254829">
              <a:spcBef>
                <a:spcPts val="80"/>
              </a:spcBef>
              <a:buFont typeface="Arial MT"/>
              <a:buChar char="•"/>
              <a:tabLst>
                <a:tab pos="265541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</a:t>
            </a:r>
            <a:r>
              <a:rPr sz="16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spectrometers</a:t>
            </a:r>
            <a:r>
              <a:rPr sz="1600" spc="-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</a:t>
            </a:r>
            <a:r>
              <a:rPr sz="1600" spc="-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sz="1600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bands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(visible,</a:t>
            </a:r>
            <a:r>
              <a:rPr sz="16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NIR,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MIR)</a:t>
            </a:r>
            <a:r>
              <a:rPr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preventing</a:t>
            </a:r>
            <a:r>
              <a:rPr sz="1600" spc="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</a:t>
            </a:r>
            <a:r>
              <a:rPr sz="16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5541" indent="-254265">
              <a:buFont typeface="Arial MT"/>
              <a:buChar char="•"/>
              <a:tabLst>
                <a:tab pos="265541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Propulsion</a:t>
            </a:r>
            <a:r>
              <a:rPr sz="1600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sz="160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sz="1600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impulse.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5541" marR="326993" indent="-254829">
              <a:spcBef>
                <a:spcPts val="5"/>
              </a:spcBef>
              <a:buFont typeface="Arial MT"/>
              <a:buChar char="•"/>
              <a:tabLst>
                <a:tab pos="265541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1600" spc="-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</a:t>
            </a:r>
            <a:r>
              <a:rPr sz="1600" spc="-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600" spc="-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</a:t>
            </a:r>
            <a:r>
              <a:rPr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sz="1600" spc="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Window.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5541" marR="533337" indent="-254829">
              <a:buFont typeface="Arial MT"/>
              <a:buChar char="•"/>
              <a:tabLst>
                <a:tab pos="265541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Satellite cannot do onboard analysis resulting in ground station analysis setup. 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object 9">
            <a:extLst>
              <a:ext uri="{FF2B5EF4-FFF2-40B4-BE49-F238E27FC236}">
                <a16:creationId xmlns:a16="http://schemas.microsoft.com/office/drawing/2014/main" id="{36D60E9A-6493-1DA9-9A73-3EDF5870BA8C}"/>
              </a:ext>
            </a:extLst>
          </p:cNvPr>
          <p:cNvSpPr txBox="1"/>
          <p:nvPr/>
        </p:nvSpPr>
        <p:spPr>
          <a:xfrm>
            <a:off x="5232401" y="1388760"/>
            <a:ext cx="3685458" cy="1980586"/>
          </a:xfrm>
          <a:prstGeom prst="rect">
            <a:avLst/>
          </a:prstGeom>
        </p:spPr>
        <p:txBody>
          <a:bodyPr vert="horz" wrap="square" lIns="0" tIns="10711" rIns="0" bIns="0" rtlCol="0">
            <a:spAutoFit/>
          </a:bodyPr>
          <a:lstStyle/>
          <a:p>
            <a:pPr marL="265541" indent="-254265">
              <a:buFont typeface="Arial MT"/>
              <a:buChar char="•"/>
              <a:tabLst>
                <a:tab pos="265541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satellite for each Data results in high cost</a:t>
            </a:r>
          </a:p>
          <a:p>
            <a:pPr marL="265541" indent="-254265">
              <a:buFont typeface="Arial MT"/>
              <a:buChar char="•"/>
              <a:tabLst>
                <a:tab pos="265541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Propulsion</a:t>
            </a:r>
            <a:r>
              <a:rPr sz="1600" spc="-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600" spc="-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</a:t>
            </a:r>
            <a:r>
              <a:rPr sz="1600" spc="-6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sz="1600" spc="-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impulse.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5541" indent="-254265">
              <a:buFont typeface="Arial MT"/>
              <a:buChar char="•"/>
              <a:tabLst>
                <a:tab pos="265541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</a:t>
            </a:r>
            <a:r>
              <a:rPr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</a:t>
            </a:r>
            <a:r>
              <a:rPr sz="16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</a:t>
            </a:r>
            <a:r>
              <a:rPr sz="1600" spc="-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sz="1600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detector.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5541" marR="4510" indent="-254829">
              <a:spcBef>
                <a:spcPts val="5"/>
              </a:spcBef>
              <a:buFont typeface="Arial MT"/>
              <a:buChar char="•"/>
              <a:tabLst>
                <a:tab pos="265541" algn="l"/>
              </a:tabLst>
            </a:pP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  <a:r>
              <a:rPr sz="1600" spc="-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sz="1600" spc="-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undergoes</a:t>
            </a:r>
            <a:r>
              <a:rPr sz="1600" spc="-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oxidation</a:t>
            </a:r>
            <a:r>
              <a:rPr sz="1600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</a:t>
            </a:r>
            <a:r>
              <a:rPr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harsh</a:t>
            </a:r>
            <a:r>
              <a:rPr sz="1600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</a:t>
            </a:r>
            <a:r>
              <a:rPr sz="1600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bject 10">
            <a:extLst>
              <a:ext uri="{FF2B5EF4-FFF2-40B4-BE49-F238E27FC236}">
                <a16:creationId xmlns:a16="http://schemas.microsoft.com/office/drawing/2014/main" id="{45C3B98E-3ED8-228E-C649-DC5EE04B4FF5}"/>
              </a:ext>
            </a:extLst>
          </p:cNvPr>
          <p:cNvSpPr txBox="1"/>
          <p:nvPr/>
        </p:nvSpPr>
        <p:spPr>
          <a:xfrm>
            <a:off x="94108" y="635796"/>
            <a:ext cx="12097892" cy="484888"/>
          </a:xfrm>
          <a:prstGeom prst="rect">
            <a:avLst/>
          </a:prstGeom>
        </p:spPr>
        <p:txBody>
          <a:bodyPr vert="horz" wrap="square" lIns="0" tIns="12966" rIns="0" bIns="0" rtlCol="0">
            <a:spAutoFit/>
          </a:bodyPr>
          <a:lstStyle/>
          <a:p>
            <a:pPr marL="46794">
              <a:spcBef>
                <a:spcPts val="102"/>
              </a:spcBef>
            </a:pPr>
            <a:r>
              <a:rPr sz="1533" b="1" dirty="0">
                <a:solidFill>
                  <a:srgbClr val="20586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</a:t>
            </a:r>
            <a:r>
              <a:rPr sz="1533" dirty="0">
                <a:solidFill>
                  <a:srgbClr val="20586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533" spc="-35" dirty="0">
                <a:solidFill>
                  <a:srgbClr val="20586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Indigenous</a:t>
            </a:r>
            <a:r>
              <a:rPr sz="1533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sz="1533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533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Fabrication</a:t>
            </a:r>
            <a:r>
              <a:rPr sz="1533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533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6U</a:t>
            </a:r>
            <a:r>
              <a:rPr sz="1533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CubeSat</a:t>
            </a:r>
            <a:r>
              <a:rPr sz="1533" spc="-6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533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</a:t>
            </a:r>
            <a:r>
              <a:rPr sz="1533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33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propulsion</a:t>
            </a:r>
            <a:r>
              <a:rPr sz="1533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and</a:t>
            </a:r>
            <a:r>
              <a:rPr sz="1533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33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533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Broadband</a:t>
            </a:r>
            <a:r>
              <a:rPr sz="1533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spectrometer</a:t>
            </a:r>
            <a:r>
              <a:rPr sz="1533" spc="-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</a:t>
            </a:r>
            <a:r>
              <a:rPr sz="1533" spc="-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5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Soil Carbon mapping and climate modelling system </a:t>
            </a:r>
            <a:endParaRPr sz="15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object 11">
            <a:extLst>
              <a:ext uri="{FF2B5EF4-FFF2-40B4-BE49-F238E27FC236}">
                <a16:creationId xmlns:a16="http://schemas.microsoft.com/office/drawing/2014/main" id="{69D425D9-2CBB-C63E-68CB-BBAD1DC5B575}"/>
              </a:ext>
            </a:extLst>
          </p:cNvPr>
          <p:cNvSpPr txBox="1"/>
          <p:nvPr/>
        </p:nvSpPr>
        <p:spPr>
          <a:xfrm>
            <a:off x="5312610" y="3295796"/>
            <a:ext cx="4772402" cy="256467"/>
          </a:xfrm>
          <a:prstGeom prst="rect">
            <a:avLst/>
          </a:prstGeom>
        </p:spPr>
        <p:txBody>
          <a:bodyPr vert="horz" wrap="square" lIns="0" tIns="10147" rIns="0" bIns="0" rtlCol="0">
            <a:spAutoFit/>
          </a:bodyPr>
          <a:lstStyle/>
          <a:p>
            <a:pPr marL="11276">
              <a:spcBef>
                <a:spcPts val="80"/>
              </a:spcBef>
            </a:pPr>
            <a:r>
              <a:rPr sz="1600" b="1" spc="-9" dirty="0">
                <a:solidFill>
                  <a:srgbClr val="7792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  <a:r>
              <a:rPr sz="1600" b="1" spc="27" dirty="0">
                <a:solidFill>
                  <a:srgbClr val="7792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rgbClr val="7792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600" b="1" spc="-27" dirty="0">
                <a:solidFill>
                  <a:srgbClr val="7792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9" dirty="0">
                <a:solidFill>
                  <a:srgbClr val="7792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Uniqueness: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object 12">
            <a:extLst>
              <a:ext uri="{FF2B5EF4-FFF2-40B4-BE49-F238E27FC236}">
                <a16:creationId xmlns:a16="http://schemas.microsoft.com/office/drawing/2014/main" id="{72BE28BB-43EC-ED10-C985-3F074F2C1E23}"/>
              </a:ext>
            </a:extLst>
          </p:cNvPr>
          <p:cNvSpPr txBox="1"/>
          <p:nvPr/>
        </p:nvSpPr>
        <p:spPr>
          <a:xfrm>
            <a:off x="5254711" y="3532588"/>
            <a:ext cx="4750091" cy="2472459"/>
          </a:xfrm>
          <a:prstGeom prst="rect">
            <a:avLst/>
          </a:prstGeom>
        </p:spPr>
        <p:txBody>
          <a:bodyPr vert="horz" wrap="square" lIns="0" tIns="10147" rIns="0" bIns="0" rtlCol="0">
            <a:spAutoFit/>
          </a:bodyPr>
          <a:lstStyle/>
          <a:p>
            <a:pPr marL="228611" indent="-228611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mapping for easy visualization </a:t>
            </a:r>
          </a:p>
          <a:p>
            <a:pPr marL="228611" indent="-228611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methods for easy Prediction and analysis</a:t>
            </a:r>
          </a:p>
          <a:p>
            <a:pPr marL="228611" indent="-228611">
              <a:buFont typeface="Arial" panose="020B0604020202020204" pitchFamily="34" charset="0"/>
              <a:buChar char="•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00" spc="-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Promoter</a:t>
            </a:r>
            <a:r>
              <a:rPr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600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gelled purified low sulphur kerosene with GONPs aerogel as gellant and AgPtNPs catalyst and H2O2 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5541" indent="-254265">
              <a:buFont typeface="Arial MT"/>
              <a:buChar char="•"/>
              <a:tabLst>
                <a:tab pos="265541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Mercury Cadmium Telluride (MCT)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6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sz="1600" spc="-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detector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5541" indent="-254265">
              <a:spcBef>
                <a:spcPts val="5"/>
              </a:spcBef>
              <a:buFont typeface="Arial MT"/>
              <a:buChar char="•"/>
              <a:tabLst>
                <a:tab pos="265541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en-US" sz="160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</a:t>
            </a:r>
            <a:r>
              <a:rPr lang="en-US"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bandpass</a:t>
            </a:r>
            <a:r>
              <a:rPr lang="en-US" sz="1600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lang="en-US" sz="1600" spc="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spectrometer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</a:t>
            </a:r>
            <a:r>
              <a:rPr lang="en-US" sz="1600" spc="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unwanted</a:t>
            </a: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</a:t>
            </a:r>
            <a:r>
              <a:rPr lang="en-US"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en-US" sz="1600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3286" marR="4510" indent="-252574" algn="just">
              <a:buFont typeface="Arial MT"/>
              <a:buChar char="•"/>
              <a:tabLst>
                <a:tab pos="265541" algn="l"/>
              </a:tabLst>
            </a:pPr>
            <a:r>
              <a:rPr lang="en-IN" sz="16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Graphene based High density battery.</a:t>
            </a:r>
          </a:p>
          <a:p>
            <a:pPr marL="263286" marR="4510" indent="-252574" algn="just">
              <a:buFont typeface="Arial MT"/>
              <a:buChar char="•"/>
              <a:tabLst>
                <a:tab pos="265541" algn="l"/>
              </a:tabLst>
            </a:pPr>
            <a:endParaRPr lang="en-IN" sz="1600" spc="-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object 15">
            <a:extLst>
              <a:ext uri="{FF2B5EF4-FFF2-40B4-BE49-F238E27FC236}">
                <a16:creationId xmlns:a16="http://schemas.microsoft.com/office/drawing/2014/main" id="{4B5A246F-A12A-15C5-5126-6E17EABADE9B}"/>
              </a:ext>
            </a:extLst>
          </p:cNvPr>
          <p:cNvSpPr txBox="1"/>
          <p:nvPr/>
        </p:nvSpPr>
        <p:spPr>
          <a:xfrm>
            <a:off x="3747617" y="7937"/>
            <a:ext cx="1807941" cy="474489"/>
          </a:xfrm>
          <a:prstGeom prst="rect">
            <a:avLst/>
          </a:prstGeom>
          <a:solidFill>
            <a:srgbClr val="C6233C"/>
          </a:solidFill>
        </p:spPr>
        <p:txBody>
          <a:bodyPr vert="horz" wrap="square" lIns="0" tIns="0" rIns="0" bIns="0" rtlCol="0">
            <a:spAutoFit/>
          </a:bodyPr>
          <a:lstStyle/>
          <a:p>
            <a:pPr marL="767869">
              <a:lnSpc>
                <a:spcPts val="3694"/>
              </a:lnSpc>
            </a:pPr>
            <a:r>
              <a:rPr sz="3196" spc="-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</a:t>
            </a:r>
            <a:endParaRPr sz="31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object 16">
            <a:extLst>
              <a:ext uri="{FF2B5EF4-FFF2-40B4-BE49-F238E27FC236}">
                <a16:creationId xmlns:a16="http://schemas.microsoft.com/office/drawing/2014/main" id="{42E8032A-29D3-F569-4D97-680B49F2269E}"/>
              </a:ext>
            </a:extLst>
          </p:cNvPr>
          <p:cNvSpPr txBox="1">
            <a:spLocks/>
          </p:cNvSpPr>
          <p:nvPr/>
        </p:nvSpPr>
        <p:spPr>
          <a:xfrm>
            <a:off x="5477211" y="-2535"/>
            <a:ext cx="2600571" cy="462727"/>
          </a:xfrm>
          <a:prstGeom prst="rect">
            <a:avLst/>
          </a:prstGeom>
        </p:spPr>
        <p:txBody>
          <a:bodyPr vert="horz" wrap="square" lIns="0" tIns="11275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276">
              <a:spcBef>
                <a:spcPts val="89"/>
              </a:spcBef>
            </a:pPr>
            <a:r>
              <a:rPr lang="en-I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IN" sz="2933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69A5C4-23BA-6037-DCDD-7956C6BA5F06}"/>
              </a:ext>
            </a:extLst>
          </p:cNvPr>
          <p:cNvSpPr txBox="1"/>
          <p:nvPr/>
        </p:nvSpPr>
        <p:spPr>
          <a:xfrm>
            <a:off x="0" y="1118509"/>
            <a:ext cx="2457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  <a:endParaRPr lang="en-IN" sz="16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846FB4-39B7-B9C4-9D95-7A6CB35682E1}"/>
              </a:ext>
            </a:extLst>
          </p:cNvPr>
          <p:cNvSpPr txBox="1"/>
          <p:nvPr/>
        </p:nvSpPr>
        <p:spPr>
          <a:xfrm>
            <a:off x="5193848" y="1089084"/>
            <a:ext cx="26094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 Cause of the problem:</a:t>
            </a:r>
            <a:endParaRPr lang="en-IN" sz="16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EB70D9C9-3D30-4D43-8C51-6B2F8BB2DF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092" y="3123124"/>
            <a:ext cx="2269525" cy="1988392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9BD3AD7E-E008-03CC-13A4-D906FCF23D13}"/>
              </a:ext>
            </a:extLst>
          </p:cNvPr>
          <p:cNvSpPr txBox="1"/>
          <p:nvPr/>
        </p:nvSpPr>
        <p:spPr>
          <a:xfrm>
            <a:off x="9852402" y="5044262"/>
            <a:ext cx="2339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Palm sized Broadband IR spectrometer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AC2241-421B-D50A-8219-2AB7E3F98B1C}"/>
              </a:ext>
            </a:extLst>
          </p:cNvPr>
          <p:cNvSpPr txBox="1"/>
          <p:nvPr/>
        </p:nvSpPr>
        <p:spPr>
          <a:xfrm>
            <a:off x="9097112" y="2855572"/>
            <a:ext cx="2825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based Predictive system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B79C3-3510-5AEA-3055-367A6B7216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5564" y="1262525"/>
            <a:ext cx="3269053" cy="15957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63" y="6350000"/>
            <a:ext cx="12201524" cy="512763"/>
            <a:chOff x="0" y="0"/>
            <a:chExt cx="24403048" cy="1025526"/>
          </a:xfrm>
        </p:grpSpPr>
        <p:sp>
          <p:nvSpPr>
            <p:cNvPr id="3" name="Freeform 3"/>
            <p:cNvSpPr/>
            <p:nvPr/>
          </p:nvSpPr>
          <p:spPr>
            <a:xfrm>
              <a:off x="9525" y="9525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03050" cy="1025525"/>
            </a:xfrm>
            <a:custGeom>
              <a:avLst/>
              <a:gdLst/>
              <a:ahLst/>
              <a:cxnLst/>
              <a:rect l="l" t="t" r="r" b="b"/>
              <a:pathLst>
                <a:path w="24403050" h="1025525">
                  <a:moveTo>
                    <a:pt x="9525" y="0"/>
                  </a:moveTo>
                  <a:lnTo>
                    <a:pt x="24393525" y="0"/>
                  </a:lnTo>
                  <a:cubicBezTo>
                    <a:pt x="24398732" y="0"/>
                    <a:pt x="24403050" y="4318"/>
                    <a:pt x="24403050" y="9525"/>
                  </a:cubicBezTo>
                  <a:lnTo>
                    <a:pt x="24403050" y="1016000"/>
                  </a:lnTo>
                  <a:cubicBezTo>
                    <a:pt x="24403050" y="1021207"/>
                    <a:pt x="24398732" y="1025525"/>
                    <a:pt x="24393525" y="1025525"/>
                  </a:cubicBezTo>
                  <a:lnTo>
                    <a:pt x="9525" y="1025525"/>
                  </a:lnTo>
                  <a:cubicBezTo>
                    <a:pt x="4318" y="1025525"/>
                    <a:pt x="0" y="1021207"/>
                    <a:pt x="0" y="101600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16000"/>
                  </a:lnTo>
                  <a:lnTo>
                    <a:pt x="9525" y="1016000"/>
                  </a:lnTo>
                  <a:lnTo>
                    <a:pt x="9525" y="1006475"/>
                  </a:lnTo>
                  <a:lnTo>
                    <a:pt x="24393525" y="1006475"/>
                  </a:lnTo>
                  <a:lnTo>
                    <a:pt x="24393525" y="1016000"/>
                  </a:lnTo>
                  <a:lnTo>
                    <a:pt x="24384000" y="1016000"/>
                  </a:lnTo>
                  <a:lnTo>
                    <a:pt x="24384000" y="9525"/>
                  </a:lnTo>
                  <a:lnTo>
                    <a:pt x="24393525" y="9525"/>
                  </a:lnTo>
                  <a:lnTo>
                    <a:pt x="243935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 sz="12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058440" y="6356354"/>
            <a:ext cx="2844800" cy="365125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 b="1">
                  <a:solidFill>
                    <a:srgbClr val="FFFFFF"/>
                  </a:solidFill>
                  <a:latin typeface="Trade Gothic Bold"/>
                  <a:ea typeface="Trade Gothic Bold"/>
                  <a:cs typeface="Trade Gothic Bold"/>
                  <a:sym typeface="Trade Gothic Bold"/>
                </a:rPr>
                <a:t>4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92224" y="6247607"/>
            <a:ext cx="12941639" cy="616743"/>
            <a:chOff x="0" y="0"/>
            <a:chExt cx="3994333" cy="19035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94333" cy="190353"/>
            </a:xfrm>
            <a:custGeom>
              <a:avLst/>
              <a:gdLst/>
              <a:ahLst/>
              <a:cxnLst/>
              <a:rect l="l" t="t" r="r" b="b"/>
              <a:pathLst>
                <a:path w="3994333" h="190353">
                  <a:moveTo>
                    <a:pt x="7789" y="0"/>
                  </a:moveTo>
                  <a:lnTo>
                    <a:pt x="3986544" y="0"/>
                  </a:lnTo>
                  <a:cubicBezTo>
                    <a:pt x="3990846" y="0"/>
                    <a:pt x="3994333" y="3487"/>
                    <a:pt x="3994333" y="7789"/>
                  </a:cubicBezTo>
                  <a:lnTo>
                    <a:pt x="3994333" y="182564"/>
                  </a:lnTo>
                  <a:cubicBezTo>
                    <a:pt x="3994333" y="184629"/>
                    <a:pt x="3993513" y="186611"/>
                    <a:pt x="3992052" y="188072"/>
                  </a:cubicBezTo>
                  <a:cubicBezTo>
                    <a:pt x="3990591" y="189532"/>
                    <a:pt x="3988610" y="190353"/>
                    <a:pt x="3986544" y="190353"/>
                  </a:cubicBezTo>
                  <a:lnTo>
                    <a:pt x="7789" y="190353"/>
                  </a:lnTo>
                  <a:cubicBezTo>
                    <a:pt x="5723" y="190353"/>
                    <a:pt x="3742" y="189532"/>
                    <a:pt x="2281" y="188072"/>
                  </a:cubicBezTo>
                  <a:cubicBezTo>
                    <a:pt x="821" y="186611"/>
                    <a:pt x="0" y="184629"/>
                    <a:pt x="0" y="182564"/>
                  </a:cubicBezTo>
                  <a:lnTo>
                    <a:pt x="0" y="7789"/>
                  </a:lnTo>
                  <a:cubicBezTo>
                    <a:pt x="0" y="5723"/>
                    <a:pt x="821" y="3742"/>
                    <a:pt x="2281" y="2281"/>
                  </a:cubicBezTo>
                  <a:cubicBezTo>
                    <a:pt x="3742" y="821"/>
                    <a:pt x="5723" y="0"/>
                    <a:pt x="7789" y="0"/>
                  </a:cubicBezTo>
                  <a:close/>
                </a:path>
              </a:pathLst>
            </a:custGeom>
            <a:solidFill>
              <a:srgbClr val="00A6C8"/>
            </a:solid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994333" cy="22845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40"/>
                </a:lnSpc>
              </a:pPr>
              <a:endParaRPr sz="1200"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731006" y="6385629"/>
            <a:ext cx="146834" cy="301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  <a:spcBef>
                <a:spcPct val="0"/>
              </a:spcBef>
            </a:pPr>
            <a:r>
              <a:rPr lang="en-US" sz="2078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id="6" name="object 15">
            <a:extLst>
              <a:ext uri="{FF2B5EF4-FFF2-40B4-BE49-F238E27FC236}">
                <a16:creationId xmlns:a16="http://schemas.microsoft.com/office/drawing/2014/main" id="{842BA783-0065-5BA2-102F-05216E9C247A}"/>
              </a:ext>
            </a:extLst>
          </p:cNvPr>
          <p:cNvSpPr txBox="1"/>
          <p:nvPr/>
        </p:nvSpPr>
        <p:spPr>
          <a:xfrm>
            <a:off x="4346074" y="-1850"/>
            <a:ext cx="1807941" cy="474489"/>
          </a:xfrm>
          <a:prstGeom prst="rect">
            <a:avLst/>
          </a:prstGeom>
          <a:solidFill>
            <a:srgbClr val="C6233C"/>
          </a:solidFill>
        </p:spPr>
        <p:txBody>
          <a:bodyPr vert="horz" wrap="square" lIns="0" tIns="0" rIns="0" bIns="0" rtlCol="0">
            <a:spAutoFit/>
          </a:bodyPr>
          <a:lstStyle/>
          <a:p>
            <a:pPr marL="767869">
              <a:lnSpc>
                <a:spcPts val="3694"/>
              </a:lnSpc>
            </a:pPr>
            <a:endParaRPr sz="31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19068D-197D-5DC4-1665-D1A4C7A1DFAA}"/>
              </a:ext>
            </a:extLst>
          </p:cNvPr>
          <p:cNvSpPr txBox="1"/>
          <p:nvPr/>
        </p:nvSpPr>
        <p:spPr>
          <a:xfrm>
            <a:off x="3790995" y="-99208"/>
            <a:ext cx="4775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C4578C-2FDF-A3CE-7B18-23FB52B06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55335"/>
            <a:ext cx="3011189" cy="514733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C99C108-A066-B8D8-3F90-818C9E36029A}"/>
              </a:ext>
            </a:extLst>
          </p:cNvPr>
          <p:cNvSpPr txBox="1"/>
          <p:nvPr/>
        </p:nvSpPr>
        <p:spPr>
          <a:xfrm>
            <a:off x="3665270" y="757387"/>
            <a:ext cx="3708400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Used: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0ACFAC8-3A15-B912-A7BB-B28845CF8C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450" y="1131114"/>
            <a:ext cx="1350292" cy="240051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F6709BE-DF1B-214D-D21D-C6845240357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552" y="3822956"/>
            <a:ext cx="1350293" cy="240052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95418B0-5BAC-AEB7-C30D-66DF0DC067E3}"/>
              </a:ext>
            </a:extLst>
          </p:cNvPr>
          <p:cNvSpPr txBox="1"/>
          <p:nvPr/>
        </p:nvSpPr>
        <p:spPr>
          <a:xfrm>
            <a:off x="5461142" y="3524123"/>
            <a:ext cx="1930400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 used :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D9F9AFB-D4DC-5A42-4004-E245809F081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212" y="1131114"/>
            <a:ext cx="971365" cy="1295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9279010-DFCE-E189-07B9-C8377AE255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047" y="1093398"/>
            <a:ext cx="886644" cy="133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0C51EB4-8592-255B-EB8D-C5B3BC3D5B3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327" y="1117767"/>
            <a:ext cx="1111269" cy="2469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36C45B8-F58F-4387-7428-009531AD8C6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369" y="2578013"/>
            <a:ext cx="1988389" cy="894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C231952-8A3D-DA81-318A-C9E6ACEEEBC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212" y="3825311"/>
            <a:ext cx="2479698" cy="1115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C0DDFD7-DBAA-8005-A61D-1424AE4291C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559" y="5132846"/>
            <a:ext cx="2089004" cy="940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981B1F9-B160-C96F-3BF5-20AFCCC3786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573" y="1131114"/>
            <a:ext cx="1477952" cy="201113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1184B57-E4D3-59AC-AAAD-821A2D92986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277" y="3672676"/>
            <a:ext cx="2255308" cy="126861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B43C228-2232-D87F-8E8A-2E3F29E90D2B}"/>
              </a:ext>
            </a:extLst>
          </p:cNvPr>
          <p:cNvSpPr txBox="1"/>
          <p:nvPr/>
        </p:nvSpPr>
        <p:spPr>
          <a:xfrm>
            <a:off x="9957216" y="4973102"/>
            <a:ext cx="1905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Vacuum calibration tube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84052A-28E1-5DA6-1564-E4B1093E4194}"/>
              </a:ext>
            </a:extLst>
          </p:cNvPr>
          <p:cNvSpPr txBox="1"/>
          <p:nvPr/>
        </p:nvSpPr>
        <p:spPr>
          <a:xfrm>
            <a:off x="7552344" y="6012682"/>
            <a:ext cx="1782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Ultra sound Cleanser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F94B30-3352-7795-B031-EA467489CFE0}"/>
              </a:ext>
            </a:extLst>
          </p:cNvPr>
          <p:cNvSpPr txBox="1"/>
          <p:nvPr/>
        </p:nvSpPr>
        <p:spPr>
          <a:xfrm>
            <a:off x="7672865" y="4886624"/>
            <a:ext cx="15013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laser interferometer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AD96A5-8656-FFE8-1B10-48291203C5AA}"/>
              </a:ext>
            </a:extLst>
          </p:cNvPr>
          <p:cNvSpPr txBox="1"/>
          <p:nvPr/>
        </p:nvSpPr>
        <p:spPr>
          <a:xfrm>
            <a:off x="7227731" y="3484080"/>
            <a:ext cx="17362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Optical density machine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23C225-E91F-C9B8-9849-6B3398FD249F}"/>
              </a:ext>
            </a:extLst>
          </p:cNvPr>
          <p:cNvSpPr txBox="1"/>
          <p:nvPr/>
        </p:nvSpPr>
        <p:spPr>
          <a:xfrm>
            <a:off x="9286395" y="3386620"/>
            <a:ext cx="1605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PVD machine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6CC21CE-95DF-06B2-7F6C-F71226C7D4C8}"/>
              </a:ext>
            </a:extLst>
          </p:cNvPr>
          <p:cNvSpPr txBox="1"/>
          <p:nvPr/>
        </p:nvSpPr>
        <p:spPr>
          <a:xfrm>
            <a:off x="7127944" y="2377358"/>
            <a:ext cx="1643605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DIP coating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D0A7F6-1B2C-96B6-0457-48D599D9DF3C}"/>
              </a:ext>
            </a:extLst>
          </p:cNvPr>
          <p:cNvSpPr txBox="1"/>
          <p:nvPr/>
        </p:nvSpPr>
        <p:spPr>
          <a:xfrm>
            <a:off x="7937878" y="2339996"/>
            <a:ext cx="1518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Tensile strength tester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AE86A6-BA74-D866-A096-9141BDB0422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178" y="1102414"/>
            <a:ext cx="1350292" cy="24016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8EC64EA-DE29-B9D1-2B2F-5EC4A565472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835" y="3683173"/>
            <a:ext cx="1354502" cy="2409175"/>
          </a:xfrm>
          <a:prstGeom prst="rect">
            <a:avLst/>
          </a:prstGeom>
        </p:spPr>
      </p:pic>
      <p:pic>
        <p:nvPicPr>
          <p:cNvPr id="20" name="Picture 12">
            <a:extLst>
              <a:ext uri="{FF2B5EF4-FFF2-40B4-BE49-F238E27FC236}">
                <a16:creationId xmlns:a16="http://schemas.microsoft.com/office/drawing/2014/main" id="{846F1019-14A7-0BF7-2460-D62739E5C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090" y="1117767"/>
            <a:ext cx="923988" cy="923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css-logo – GLE Construction And Development">
            <a:extLst>
              <a:ext uri="{FF2B5EF4-FFF2-40B4-BE49-F238E27FC236}">
                <a16:creationId xmlns:a16="http://schemas.microsoft.com/office/drawing/2014/main" id="{30153839-1F90-8F90-6DC4-9379CA215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9601" y="2433248"/>
            <a:ext cx="923988" cy="923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Javascript Logo Download png">
            <a:extLst>
              <a:ext uri="{FF2B5EF4-FFF2-40B4-BE49-F238E27FC236}">
                <a16:creationId xmlns:a16="http://schemas.microsoft.com/office/drawing/2014/main" id="{9CA0C472-9451-9B22-97CD-190D453D4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538" y="2570828"/>
            <a:ext cx="692779" cy="78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>
            <a:extLst>
              <a:ext uri="{FF2B5EF4-FFF2-40B4-BE49-F238E27FC236}">
                <a16:creationId xmlns:a16="http://schemas.microsoft.com/office/drawing/2014/main" id="{4F325B3E-E3E3-959A-D9ED-FF66C1FF8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56" y="5563239"/>
            <a:ext cx="2116139" cy="471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63" y="6350000"/>
            <a:ext cx="12201524" cy="512763"/>
            <a:chOff x="0" y="0"/>
            <a:chExt cx="24403048" cy="1025526"/>
          </a:xfrm>
        </p:grpSpPr>
        <p:sp>
          <p:nvSpPr>
            <p:cNvPr id="3" name="Freeform 3"/>
            <p:cNvSpPr/>
            <p:nvPr/>
          </p:nvSpPr>
          <p:spPr>
            <a:xfrm>
              <a:off x="9525" y="9525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03050" cy="1025525"/>
            </a:xfrm>
            <a:custGeom>
              <a:avLst/>
              <a:gdLst/>
              <a:ahLst/>
              <a:cxnLst/>
              <a:rect l="l" t="t" r="r" b="b"/>
              <a:pathLst>
                <a:path w="24403050" h="1025525">
                  <a:moveTo>
                    <a:pt x="9525" y="0"/>
                  </a:moveTo>
                  <a:lnTo>
                    <a:pt x="24393525" y="0"/>
                  </a:lnTo>
                  <a:cubicBezTo>
                    <a:pt x="24398732" y="0"/>
                    <a:pt x="24403050" y="4318"/>
                    <a:pt x="24403050" y="9525"/>
                  </a:cubicBezTo>
                  <a:lnTo>
                    <a:pt x="24403050" y="1016000"/>
                  </a:lnTo>
                  <a:cubicBezTo>
                    <a:pt x="24403050" y="1021207"/>
                    <a:pt x="24398732" y="1025525"/>
                    <a:pt x="24393525" y="1025525"/>
                  </a:cubicBezTo>
                  <a:lnTo>
                    <a:pt x="9525" y="1025525"/>
                  </a:lnTo>
                  <a:cubicBezTo>
                    <a:pt x="4318" y="1025525"/>
                    <a:pt x="0" y="1021207"/>
                    <a:pt x="0" y="101600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16000"/>
                  </a:lnTo>
                  <a:lnTo>
                    <a:pt x="9525" y="1016000"/>
                  </a:lnTo>
                  <a:lnTo>
                    <a:pt x="9525" y="1006475"/>
                  </a:lnTo>
                  <a:lnTo>
                    <a:pt x="24393525" y="1006475"/>
                  </a:lnTo>
                  <a:lnTo>
                    <a:pt x="24393525" y="1016000"/>
                  </a:lnTo>
                  <a:lnTo>
                    <a:pt x="24384000" y="1016000"/>
                  </a:lnTo>
                  <a:lnTo>
                    <a:pt x="24384000" y="9525"/>
                  </a:lnTo>
                  <a:lnTo>
                    <a:pt x="24393525" y="9525"/>
                  </a:lnTo>
                  <a:lnTo>
                    <a:pt x="243935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40F2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4115830" y="2889902"/>
            <a:ext cx="3960341" cy="743669"/>
          </a:xfrm>
          <a:custGeom>
            <a:avLst/>
            <a:gdLst/>
            <a:ahLst/>
            <a:cxnLst/>
            <a:rect l="l" t="t" r="r" b="b"/>
            <a:pathLst>
              <a:path w="7920682" h="1487339">
                <a:moveTo>
                  <a:pt x="0" y="0"/>
                </a:moveTo>
                <a:lnTo>
                  <a:pt x="7920682" y="0"/>
                </a:lnTo>
                <a:lnTo>
                  <a:pt x="7920682" y="1487339"/>
                </a:lnTo>
                <a:lnTo>
                  <a:pt x="0" y="148733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8737600" y="6356354"/>
            <a:ext cx="2844800" cy="365125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 b="1">
                  <a:solidFill>
                    <a:srgbClr val="FFFFFF"/>
                  </a:solidFill>
                  <a:latin typeface="Times New Roman" panose="02020603050405020304" pitchFamily="18" charset="0"/>
                  <a:ea typeface="Trade Gothic Bold"/>
                  <a:cs typeface="Times New Roman" panose="02020603050405020304" pitchFamily="18" charset="0"/>
                  <a:sym typeface="Trade Gothic Bold"/>
                </a:rPr>
                <a:t>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92224" y="6247607"/>
            <a:ext cx="12941639" cy="616743"/>
            <a:chOff x="0" y="0"/>
            <a:chExt cx="25883279" cy="1233487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25883279" cy="1233487"/>
              <a:chOff x="0" y="0"/>
              <a:chExt cx="3994333" cy="19035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994333" cy="190353"/>
              </a:xfrm>
              <a:custGeom>
                <a:avLst/>
                <a:gdLst/>
                <a:ahLst/>
                <a:cxnLst/>
                <a:rect l="l" t="t" r="r" b="b"/>
                <a:pathLst>
                  <a:path w="3994333" h="190353">
                    <a:moveTo>
                      <a:pt x="7789" y="0"/>
                    </a:moveTo>
                    <a:lnTo>
                      <a:pt x="3986544" y="0"/>
                    </a:lnTo>
                    <a:cubicBezTo>
                      <a:pt x="3990846" y="0"/>
                      <a:pt x="3994333" y="3487"/>
                      <a:pt x="3994333" y="7789"/>
                    </a:cubicBezTo>
                    <a:lnTo>
                      <a:pt x="3994333" y="182564"/>
                    </a:lnTo>
                    <a:cubicBezTo>
                      <a:pt x="3994333" y="184629"/>
                      <a:pt x="3993513" y="186611"/>
                      <a:pt x="3992052" y="188072"/>
                    </a:cubicBezTo>
                    <a:cubicBezTo>
                      <a:pt x="3990591" y="189532"/>
                      <a:pt x="3988610" y="190353"/>
                      <a:pt x="3986544" y="190353"/>
                    </a:cubicBezTo>
                    <a:lnTo>
                      <a:pt x="7789" y="190353"/>
                    </a:lnTo>
                    <a:cubicBezTo>
                      <a:pt x="5723" y="190353"/>
                      <a:pt x="3742" y="189532"/>
                      <a:pt x="2281" y="188072"/>
                    </a:cubicBezTo>
                    <a:cubicBezTo>
                      <a:pt x="821" y="186611"/>
                      <a:pt x="0" y="184629"/>
                      <a:pt x="0" y="182564"/>
                    </a:cubicBezTo>
                    <a:lnTo>
                      <a:pt x="0" y="7789"/>
                    </a:lnTo>
                    <a:cubicBezTo>
                      <a:pt x="0" y="5723"/>
                      <a:pt x="821" y="3742"/>
                      <a:pt x="2281" y="2281"/>
                    </a:cubicBezTo>
                    <a:cubicBezTo>
                      <a:pt x="3742" y="821"/>
                      <a:pt x="5723" y="0"/>
                      <a:pt x="7789" y="0"/>
                    </a:cubicBezTo>
                    <a:close/>
                  </a:path>
                </a:pathLst>
              </a:custGeom>
              <a:solidFill>
                <a:srgbClr val="00A6C8"/>
              </a:solidFill>
            </p:spPr>
            <p:txBody>
              <a:bodyPr/>
              <a:lstStyle/>
              <a:p>
                <a:endParaRPr lang="en-IN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3994333" cy="228453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40"/>
                  </a:lnSpc>
                </a:pPr>
                <a:endParaRPr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23404783" y="282394"/>
              <a:ext cx="293668" cy="6058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94"/>
                </a:lnSpc>
                <a:spcBef>
                  <a:spcPct val="0"/>
                </a:spcBef>
              </a:pPr>
              <a:r>
                <a:rPr lang="en-US" sz="2078" b="1">
                  <a:solidFill>
                    <a:srgbClr val="FFFFFF"/>
                  </a:solidFill>
                  <a:latin typeface="Times New Roman" panose="02020603050405020304" pitchFamily="18" charset="0"/>
                  <a:ea typeface="Arial Bold"/>
                  <a:cs typeface="Times New Roman" panose="02020603050405020304" pitchFamily="18" charset="0"/>
                  <a:sym typeface="Arial Bold"/>
                </a:rPr>
                <a:t>5</a:t>
              </a: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6E0FFE70-3786-B6CE-1B9F-D49BAF090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4940"/>
            <a:ext cx="6272309" cy="462532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A5094D9-2179-95A9-8977-1E9B3406E9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800" y="922166"/>
            <a:ext cx="5953199" cy="298285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67CF70F-49DD-B60E-5E79-503FE2C84745}"/>
              </a:ext>
            </a:extLst>
          </p:cNvPr>
          <p:cNvSpPr txBox="1"/>
          <p:nvPr/>
        </p:nvSpPr>
        <p:spPr>
          <a:xfrm>
            <a:off x="-4763" y="636901"/>
            <a:ext cx="3403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work flow: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61C868-281C-AE8C-39C9-C519B6D60E67}"/>
              </a:ext>
            </a:extLst>
          </p:cNvPr>
          <p:cNvSpPr txBox="1"/>
          <p:nvPr/>
        </p:nvSpPr>
        <p:spPr>
          <a:xfrm>
            <a:off x="6023102" y="540553"/>
            <a:ext cx="3403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work flow:</a:t>
            </a:r>
          </a:p>
        </p:txBody>
      </p:sp>
      <p:sp>
        <p:nvSpPr>
          <p:cNvPr id="37" name="object 15">
            <a:extLst>
              <a:ext uri="{FF2B5EF4-FFF2-40B4-BE49-F238E27FC236}">
                <a16:creationId xmlns:a16="http://schemas.microsoft.com/office/drawing/2014/main" id="{C3CD0D3A-5394-C0C1-3609-B25572654180}"/>
              </a:ext>
            </a:extLst>
          </p:cNvPr>
          <p:cNvSpPr txBox="1"/>
          <p:nvPr/>
        </p:nvSpPr>
        <p:spPr>
          <a:xfrm>
            <a:off x="3908657" y="31530"/>
            <a:ext cx="1807941" cy="474489"/>
          </a:xfrm>
          <a:prstGeom prst="rect">
            <a:avLst/>
          </a:prstGeom>
          <a:solidFill>
            <a:srgbClr val="C6233C"/>
          </a:solidFill>
        </p:spPr>
        <p:txBody>
          <a:bodyPr vert="horz" wrap="square" lIns="0" tIns="0" rIns="0" bIns="0" rtlCol="0">
            <a:spAutoFit/>
          </a:bodyPr>
          <a:lstStyle/>
          <a:p>
            <a:pPr marL="767869">
              <a:lnSpc>
                <a:spcPts val="3694"/>
              </a:lnSpc>
            </a:pPr>
            <a:endParaRPr sz="31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DC6E5D-6996-3C78-4A2E-07278E8D71E5}"/>
              </a:ext>
            </a:extLst>
          </p:cNvPr>
          <p:cNvSpPr txBox="1"/>
          <p:nvPr/>
        </p:nvSpPr>
        <p:spPr>
          <a:xfrm>
            <a:off x="4113771" y="-23424"/>
            <a:ext cx="39624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FD4D51-C4A0-5542-BD7B-5355324F52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967" y="4252942"/>
            <a:ext cx="2451065" cy="19515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393735-A106-FD2A-4D75-42D16D4FAF10}"/>
              </a:ext>
            </a:extLst>
          </p:cNvPr>
          <p:cNvSpPr txBox="1"/>
          <p:nvPr/>
        </p:nvSpPr>
        <p:spPr>
          <a:xfrm>
            <a:off x="6291484" y="3886521"/>
            <a:ext cx="2451065" cy="60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communication protocol: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56570A-26ED-3C2C-E7CC-67D2CF653CB7}"/>
              </a:ext>
            </a:extLst>
          </p:cNvPr>
          <p:cNvSpPr txBox="1"/>
          <p:nvPr/>
        </p:nvSpPr>
        <p:spPr>
          <a:xfrm>
            <a:off x="457199" y="938981"/>
            <a:ext cx="14994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0366C9-34BB-15AD-2D94-C9AD20778BC3}"/>
              </a:ext>
            </a:extLst>
          </p:cNvPr>
          <p:cNvSpPr txBox="1"/>
          <p:nvPr/>
        </p:nvSpPr>
        <p:spPr>
          <a:xfrm>
            <a:off x="501443" y="1450918"/>
            <a:ext cx="4930879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conventional AI soil carbon systems that rely on ground surveys, lab samples, or secondary datasets, our project introduces direct satellite-based soil carbon sensing using a broadband IR spectrometer (900–5000 nm).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patented self-powered broadband IR spectrometer covering Near-IR to Far-IR, which is not available in traditional CubeSat payloads.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an AI-based predictive analytics system directly with satellite payload 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of geo-referenced carbon maps using satellite-captured IR data combined with AI analytics.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a palm-sized pulsing micro-propulsion system using hypergolic fuel (low-sulphur kerosene + H₂O₂).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indigenous design and fabrication aligned with Make-in-India and IN-</a:t>
            </a:r>
            <a:r>
              <a:rPr lang="en-US" sz="1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en-US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45012C8F-0FBD-90A3-3C4A-BFC100EDBFEA}"/>
              </a:ext>
            </a:extLst>
          </p:cNvPr>
          <p:cNvSpPr txBox="1"/>
          <p:nvPr/>
        </p:nvSpPr>
        <p:spPr>
          <a:xfrm>
            <a:off x="3908657" y="42062"/>
            <a:ext cx="1807941" cy="474489"/>
          </a:xfrm>
          <a:prstGeom prst="rect">
            <a:avLst/>
          </a:prstGeom>
          <a:solidFill>
            <a:srgbClr val="C6233C"/>
          </a:solidFill>
        </p:spPr>
        <p:txBody>
          <a:bodyPr vert="horz" wrap="square" lIns="0" tIns="0" rIns="0" bIns="0" rtlCol="0">
            <a:spAutoFit/>
          </a:bodyPr>
          <a:lstStyle/>
          <a:p>
            <a:pPr marL="767869">
              <a:lnSpc>
                <a:spcPts val="3694"/>
              </a:lnSpc>
            </a:pPr>
            <a:endParaRPr sz="31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0C19C8-EBEB-286C-2879-C40DD48D1ACD}"/>
              </a:ext>
            </a:extLst>
          </p:cNvPr>
          <p:cNvSpPr txBox="1"/>
          <p:nvPr/>
        </p:nvSpPr>
        <p:spPr>
          <a:xfrm>
            <a:off x="1" y="2307"/>
            <a:ext cx="121919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11">
            <a:extLst>
              <a:ext uri="{FF2B5EF4-FFF2-40B4-BE49-F238E27FC236}">
                <a16:creationId xmlns:a16="http://schemas.microsoft.com/office/drawing/2014/main" id="{26236DAA-4AD2-50E8-66DA-AB16A199F212}"/>
              </a:ext>
            </a:extLst>
          </p:cNvPr>
          <p:cNvGrpSpPr/>
          <p:nvPr/>
        </p:nvGrpSpPr>
        <p:grpSpPr>
          <a:xfrm>
            <a:off x="-292224" y="6247607"/>
            <a:ext cx="12941639" cy="616743"/>
            <a:chOff x="0" y="0"/>
            <a:chExt cx="25883279" cy="1233487"/>
          </a:xfrm>
        </p:grpSpPr>
        <p:grpSp>
          <p:nvGrpSpPr>
            <p:cNvPr id="11" name="Group 12">
              <a:extLst>
                <a:ext uri="{FF2B5EF4-FFF2-40B4-BE49-F238E27FC236}">
                  <a16:creationId xmlns:a16="http://schemas.microsoft.com/office/drawing/2014/main" id="{B8282E7D-ECA5-0BF0-75A7-F067EB5D87CA}"/>
                </a:ext>
              </a:extLst>
            </p:cNvPr>
            <p:cNvGrpSpPr/>
            <p:nvPr/>
          </p:nvGrpSpPr>
          <p:grpSpPr>
            <a:xfrm>
              <a:off x="0" y="0"/>
              <a:ext cx="25883279" cy="1233487"/>
              <a:chOff x="0" y="0"/>
              <a:chExt cx="3994333" cy="19035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CCA5097A-FE46-CB6C-B682-B65D6A2686AD}"/>
                  </a:ext>
                </a:extLst>
              </p:cNvPr>
              <p:cNvSpPr/>
              <p:nvPr/>
            </p:nvSpPr>
            <p:spPr>
              <a:xfrm>
                <a:off x="0" y="0"/>
                <a:ext cx="3994333" cy="190353"/>
              </a:xfrm>
              <a:custGeom>
                <a:avLst/>
                <a:gdLst/>
                <a:ahLst/>
                <a:cxnLst/>
                <a:rect l="l" t="t" r="r" b="b"/>
                <a:pathLst>
                  <a:path w="3994333" h="190353">
                    <a:moveTo>
                      <a:pt x="7789" y="0"/>
                    </a:moveTo>
                    <a:lnTo>
                      <a:pt x="3986544" y="0"/>
                    </a:lnTo>
                    <a:cubicBezTo>
                      <a:pt x="3990846" y="0"/>
                      <a:pt x="3994333" y="3487"/>
                      <a:pt x="3994333" y="7789"/>
                    </a:cubicBezTo>
                    <a:lnTo>
                      <a:pt x="3994333" y="182564"/>
                    </a:lnTo>
                    <a:cubicBezTo>
                      <a:pt x="3994333" y="184629"/>
                      <a:pt x="3993513" y="186611"/>
                      <a:pt x="3992052" y="188072"/>
                    </a:cubicBezTo>
                    <a:cubicBezTo>
                      <a:pt x="3990591" y="189532"/>
                      <a:pt x="3988610" y="190353"/>
                      <a:pt x="3986544" y="190353"/>
                    </a:cubicBezTo>
                    <a:lnTo>
                      <a:pt x="7789" y="190353"/>
                    </a:lnTo>
                    <a:cubicBezTo>
                      <a:pt x="5723" y="190353"/>
                      <a:pt x="3742" y="189532"/>
                      <a:pt x="2281" y="188072"/>
                    </a:cubicBezTo>
                    <a:cubicBezTo>
                      <a:pt x="821" y="186611"/>
                      <a:pt x="0" y="184629"/>
                      <a:pt x="0" y="182564"/>
                    </a:cubicBezTo>
                    <a:lnTo>
                      <a:pt x="0" y="7789"/>
                    </a:lnTo>
                    <a:cubicBezTo>
                      <a:pt x="0" y="5723"/>
                      <a:pt x="821" y="3742"/>
                      <a:pt x="2281" y="2281"/>
                    </a:cubicBezTo>
                    <a:cubicBezTo>
                      <a:pt x="3742" y="821"/>
                      <a:pt x="5723" y="0"/>
                      <a:pt x="7789" y="0"/>
                    </a:cubicBezTo>
                    <a:close/>
                  </a:path>
                </a:pathLst>
              </a:custGeom>
              <a:solidFill>
                <a:srgbClr val="00A6C8"/>
              </a:solidFill>
            </p:spPr>
            <p:txBody>
              <a:bodyPr/>
              <a:lstStyle/>
              <a:p>
                <a:endParaRPr lang="en-IN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B27C252-9957-BEBF-84D2-88790DE7FFA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994333" cy="228453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40"/>
                  </a:lnSpc>
                </a:pPr>
                <a:endParaRPr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6884DD92-B5A9-AB29-8795-39A5C8FC5F65}"/>
                </a:ext>
              </a:extLst>
            </p:cNvPr>
            <p:cNvSpPr txBox="1"/>
            <p:nvPr/>
          </p:nvSpPr>
          <p:spPr>
            <a:xfrm>
              <a:off x="23404783" y="282394"/>
              <a:ext cx="293668" cy="6058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94"/>
                </a:lnSpc>
                <a:spcBef>
                  <a:spcPct val="0"/>
                </a:spcBef>
              </a:pPr>
              <a:r>
                <a:rPr lang="en-US" sz="2078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 Bold"/>
                  <a:cs typeface="Times New Roman" panose="02020603050405020304" pitchFamily="18" charset="0"/>
                  <a:sym typeface="Arial Bold"/>
                </a:rPr>
                <a:t>6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562C11A2-C8F8-9CD8-6051-E0F126B16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513" y="327045"/>
            <a:ext cx="2035850" cy="361929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D4CCB41-5FDE-E684-C66D-06DF470613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9033" y="4561888"/>
            <a:ext cx="2639132" cy="160568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5023758-1F90-7A77-9EA9-AD569AF741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377" y="451403"/>
            <a:ext cx="2306499" cy="349493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B146573-705C-376D-54A0-16D31BB55C86}"/>
              </a:ext>
            </a:extLst>
          </p:cNvPr>
          <p:cNvSpPr txBox="1"/>
          <p:nvPr/>
        </p:nvSpPr>
        <p:spPr>
          <a:xfrm>
            <a:off x="7406151" y="3946335"/>
            <a:ext cx="186566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Model in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room Facility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938067-0955-62F1-D194-D955B7340CA5}"/>
              </a:ext>
            </a:extLst>
          </p:cNvPr>
          <p:cNvSpPr txBox="1"/>
          <p:nvPr/>
        </p:nvSpPr>
        <p:spPr>
          <a:xfrm>
            <a:off x="10066433" y="3956991"/>
            <a:ext cx="15340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Project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Prototype</a:t>
            </a:r>
          </a:p>
        </p:txBody>
      </p:sp>
    </p:spTree>
    <p:extLst>
      <p:ext uri="{BB962C8B-B14F-4D97-AF65-F5344CB8AC3E}">
        <p14:creationId xmlns:p14="http://schemas.microsoft.com/office/powerpoint/2010/main" val="3838543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15">
            <a:extLst>
              <a:ext uri="{FF2B5EF4-FFF2-40B4-BE49-F238E27FC236}">
                <a16:creationId xmlns:a16="http://schemas.microsoft.com/office/drawing/2014/main" id="{56A585C1-3FC3-87A4-3906-01ADB63A7EDA}"/>
              </a:ext>
            </a:extLst>
          </p:cNvPr>
          <p:cNvSpPr txBox="1"/>
          <p:nvPr/>
        </p:nvSpPr>
        <p:spPr>
          <a:xfrm>
            <a:off x="4209400" y="55142"/>
            <a:ext cx="1807941" cy="474489"/>
          </a:xfrm>
          <a:prstGeom prst="rect">
            <a:avLst/>
          </a:prstGeom>
          <a:solidFill>
            <a:srgbClr val="C6233C"/>
          </a:solidFill>
        </p:spPr>
        <p:txBody>
          <a:bodyPr vert="horz" wrap="square" lIns="0" tIns="0" rIns="0" bIns="0" rtlCol="0">
            <a:spAutoFit/>
          </a:bodyPr>
          <a:lstStyle/>
          <a:p>
            <a:pPr marL="767869">
              <a:lnSpc>
                <a:spcPts val="3694"/>
              </a:lnSpc>
            </a:pPr>
            <a:endParaRPr sz="31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448F8B-BD2C-BE97-3B35-63D95E544114}"/>
              </a:ext>
            </a:extLst>
          </p:cNvPr>
          <p:cNvSpPr txBox="1"/>
          <p:nvPr/>
        </p:nvSpPr>
        <p:spPr>
          <a:xfrm>
            <a:off x="-1" y="-48028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725673-39FA-106A-C9E2-F4545C4EC5DB}"/>
              </a:ext>
            </a:extLst>
          </p:cNvPr>
          <p:cNvSpPr txBox="1"/>
          <p:nvPr/>
        </p:nvSpPr>
        <p:spPr>
          <a:xfrm>
            <a:off x="663676" y="1258328"/>
            <a:ext cx="1070732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presents an indigenous 6U CubeSat integrated with a broadband IR spectrometer, micro-propulsion system, and AI-based predictive engine to enable accurate soil carbon mapping and climate modelling from space.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 900–5000 nm broadband spectrometer with MCT detectors and AI analytics, the system directly captures soil carbon spectral signatures and generates predictive carbon sequestration insights with high precision.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supports climate change mitigation, sustainable agriculture planning, soil health monitoring, and carbon credit verification, contributing toward national sustainability and net-zero goals.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deployed for government climate programs, research institutions, precision farming initiatives, and district/state-level environmental monitoring through geo-referenced carbon mapping and comparative analysis dashboards.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can be expanded into a CubeSat constellation, enhanced with real-time onboard AI processing, extended spectral capabilities, and integrated ground validation systems to create a nationwide soil carbon intelligence network.</a:t>
            </a:r>
            <a:endParaRPr lang="en-US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34FBC5D-EC0C-8BBB-C75F-5F0B2BE25449}"/>
              </a:ext>
            </a:extLst>
          </p:cNvPr>
          <p:cNvGrpSpPr/>
          <p:nvPr/>
        </p:nvGrpSpPr>
        <p:grpSpPr>
          <a:xfrm>
            <a:off x="-292224" y="6247607"/>
            <a:ext cx="12941639" cy="616743"/>
            <a:chOff x="0" y="0"/>
            <a:chExt cx="25883279" cy="123348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B29977F-1E85-68D2-8351-F7649CB85AD8}"/>
                </a:ext>
              </a:extLst>
            </p:cNvPr>
            <p:cNvGrpSpPr/>
            <p:nvPr/>
          </p:nvGrpSpPr>
          <p:grpSpPr>
            <a:xfrm>
              <a:off x="0" y="0"/>
              <a:ext cx="25883279" cy="1233487"/>
              <a:chOff x="0" y="0"/>
              <a:chExt cx="3994333" cy="190353"/>
            </a:xfrm>
          </p:grpSpPr>
          <p:sp>
            <p:nvSpPr>
              <p:cNvPr id="15" name="Freeform 13">
                <a:extLst>
                  <a:ext uri="{FF2B5EF4-FFF2-40B4-BE49-F238E27FC236}">
                    <a16:creationId xmlns:a16="http://schemas.microsoft.com/office/drawing/2014/main" id="{75267DDB-93CE-B3F4-2310-6518FCF3D977}"/>
                  </a:ext>
                </a:extLst>
              </p:cNvPr>
              <p:cNvSpPr/>
              <p:nvPr/>
            </p:nvSpPr>
            <p:spPr>
              <a:xfrm>
                <a:off x="0" y="0"/>
                <a:ext cx="3994333" cy="190353"/>
              </a:xfrm>
              <a:custGeom>
                <a:avLst/>
                <a:gdLst/>
                <a:ahLst/>
                <a:cxnLst/>
                <a:rect l="l" t="t" r="r" b="b"/>
                <a:pathLst>
                  <a:path w="3994333" h="190353">
                    <a:moveTo>
                      <a:pt x="7789" y="0"/>
                    </a:moveTo>
                    <a:lnTo>
                      <a:pt x="3986544" y="0"/>
                    </a:lnTo>
                    <a:cubicBezTo>
                      <a:pt x="3990846" y="0"/>
                      <a:pt x="3994333" y="3487"/>
                      <a:pt x="3994333" y="7789"/>
                    </a:cubicBezTo>
                    <a:lnTo>
                      <a:pt x="3994333" y="182564"/>
                    </a:lnTo>
                    <a:cubicBezTo>
                      <a:pt x="3994333" y="184629"/>
                      <a:pt x="3993513" y="186611"/>
                      <a:pt x="3992052" y="188072"/>
                    </a:cubicBezTo>
                    <a:cubicBezTo>
                      <a:pt x="3990591" y="189532"/>
                      <a:pt x="3988610" y="190353"/>
                      <a:pt x="3986544" y="190353"/>
                    </a:cubicBezTo>
                    <a:lnTo>
                      <a:pt x="7789" y="190353"/>
                    </a:lnTo>
                    <a:cubicBezTo>
                      <a:pt x="5723" y="190353"/>
                      <a:pt x="3742" y="189532"/>
                      <a:pt x="2281" y="188072"/>
                    </a:cubicBezTo>
                    <a:cubicBezTo>
                      <a:pt x="821" y="186611"/>
                      <a:pt x="0" y="184629"/>
                      <a:pt x="0" y="182564"/>
                    </a:cubicBezTo>
                    <a:lnTo>
                      <a:pt x="0" y="7789"/>
                    </a:lnTo>
                    <a:cubicBezTo>
                      <a:pt x="0" y="5723"/>
                      <a:pt x="821" y="3742"/>
                      <a:pt x="2281" y="2281"/>
                    </a:cubicBezTo>
                    <a:cubicBezTo>
                      <a:pt x="3742" y="821"/>
                      <a:pt x="5723" y="0"/>
                      <a:pt x="7789" y="0"/>
                    </a:cubicBezTo>
                    <a:close/>
                  </a:path>
                </a:pathLst>
              </a:custGeom>
              <a:solidFill>
                <a:srgbClr val="00A6C8"/>
              </a:solidFill>
            </p:spPr>
            <p:txBody>
              <a:bodyPr/>
              <a:lstStyle/>
              <a:p>
                <a:endParaRPr lang="en-IN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TextBox 14">
                <a:extLst>
                  <a:ext uri="{FF2B5EF4-FFF2-40B4-BE49-F238E27FC236}">
                    <a16:creationId xmlns:a16="http://schemas.microsoft.com/office/drawing/2014/main" id="{D0976CD0-BE01-9DBC-8998-18D807FEDDF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994333" cy="228453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40"/>
                  </a:lnSpc>
                </a:pPr>
                <a:endParaRPr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" name="TextBox 15">
              <a:extLst>
                <a:ext uri="{FF2B5EF4-FFF2-40B4-BE49-F238E27FC236}">
                  <a16:creationId xmlns:a16="http://schemas.microsoft.com/office/drawing/2014/main" id="{124E6072-1099-DD97-D3E1-040FFD1A800A}"/>
                </a:ext>
              </a:extLst>
            </p:cNvPr>
            <p:cNvSpPr txBox="1"/>
            <p:nvPr/>
          </p:nvSpPr>
          <p:spPr>
            <a:xfrm>
              <a:off x="23404783" y="282394"/>
              <a:ext cx="293668" cy="6058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94"/>
                </a:lnSpc>
                <a:spcBef>
                  <a:spcPct val="0"/>
                </a:spcBef>
              </a:pPr>
              <a:r>
                <a:rPr lang="en-US" sz="2078" b="1" dirty="0">
                  <a:solidFill>
                    <a:srgbClr val="FFFFFF"/>
                  </a:solidFill>
                  <a:latin typeface="Times New Roman" panose="02020603050405020304" pitchFamily="18" charset="0"/>
                  <a:ea typeface="Arial Bold"/>
                  <a:cs typeface="Times New Roman" panose="02020603050405020304" pitchFamily="18" charset="0"/>
                  <a:sym typeface="Arial Bold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8008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983</Words>
  <Application>Microsoft Office PowerPoint</Application>
  <PresentationFormat>Widescreen</PresentationFormat>
  <Paragraphs>100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Bold</vt:lpstr>
      <vt:lpstr>Arial MT</vt:lpstr>
      <vt:lpstr>Calibri</vt:lpstr>
      <vt:lpstr>Calibri Light</vt:lpstr>
      <vt:lpstr>Times New Roman</vt:lpstr>
      <vt:lpstr>Trade Gothic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Prithivi Rajan</dc:creator>
  <cp:lastModifiedBy>Prithivi Rajan</cp:lastModifiedBy>
  <cp:revision>35</cp:revision>
  <dcterms:created xsi:type="dcterms:W3CDTF">2026-02-27T09:31:20Z</dcterms:created>
  <dcterms:modified xsi:type="dcterms:W3CDTF">2026-02-28T01:24:44Z</dcterms:modified>
</cp:coreProperties>
</file>